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8B8D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CEAF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on-time rate</c:v>
                  </c:pt>
                  <c:pt idx="1">
                    <c:v>lead-time CoV</c:v>
                  </c:pt>
                  <c:pt idx="2">
                    <c:v>annual spend</c:v>
                  </c:pt>
                  <c:pt idx="3">
                    <c:v>single-source</c:v>
                  </c:pt>
                  <c:pt idx="4">
                    <c:v>high-risk region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26</c:v>
                </c:pt>
                <c:pt idx="2">
                  <c:v>17</c:v>
                </c:pt>
                <c:pt idx="3">
                  <c:v>13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CEAF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AB4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6"/>
        </a:solidFill>
        <a:ln>
          <a:noFill/>
        </a:ln>
        <a:effectLst/>
      </c:spPr>
    </c:plotArea>
    <c:plotVisOnly val="1"/>
    <c:dispBlanksAs val="span"/>
  </c:chart>
  <c:spPr>
    <a:solidFill>
      <a:srgbClr val="0A0E1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 UNIVERSITY  ·  AGENTIC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Risk Console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agentic-AI decision platform for Titan Manufacturing — load supply-chain data, run an autonomous risk analysis with costs, and chat with the agent.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CrewAI multi-agent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risk model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41148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B2433"/>
          </a:solidFill>
          <a:ln w="12700">
            <a:solidFill>
              <a:srgbClr val="8B8D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the VPS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pPr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github.com/cmiebach/agentic_ai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  </a:t>
            </a:r>
            <a:pPr indent="0" marL="0">
              <a:buNone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· Antonio · Max · Caspar · Nicklas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Titan Manufacturing is losing money to supply-chain volatility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2606040" cy="9144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+28%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delivery delays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47288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47288" y="1783080"/>
            <a:ext cx="2606040" cy="9144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$14M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3630168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line-stoppage losses / quarter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45936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45936" y="1783080"/>
            <a:ext cx="2606040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5" name="Text 13"/>
          <p:cNvSpPr/>
          <p:nvPr/>
        </p:nvSpPr>
        <p:spPr>
          <a:xfrm>
            <a:off x="6437376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+52%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6528816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expedited-logistics costs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44584" y="17830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44584" y="1783080"/>
            <a:ext cx="2606040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9" name="Text 17"/>
          <p:cNvSpPr/>
          <p:nvPr/>
        </p:nvSpPr>
        <p:spPr>
          <a:xfrm>
            <a:off x="9336024" y="21488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9427464" y="3154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beyond Tier-1 suppliers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56,000 employees · 28 plants · 14 countries — yet decisions are manual and reactive, with data scattered across SCADA, EDI feeds, email and spreadsheets.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Fragmented operational intelligence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109728" cy="3931920"/>
          </a:xfrm>
          <a:prstGeom prst="rect">
            <a:avLst/>
          </a:prstGeom>
          <a:solidFill>
            <a:srgbClr val="FF8A9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systems — SCADA, MES, ERP, vendor portals don’t talk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manual decision loops; problems found only after a stall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visibility into Tier-2 suppliers or real-time ETAs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blame each other — maintenance, procurement, logistics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03520" cy="3931920"/>
          </a:xfrm>
          <a:prstGeom prst="roundRect">
            <a:avLst>
              <a:gd name="adj" fmla="val 209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737360"/>
            <a:ext cx="109728" cy="39319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Agentic AI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75120" y="251460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perceive, decide and act on the data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Unify scattered sources into one analysed workspace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&amp; flag risk proactively — before the line stops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exposure in $ and recommend the next action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opportunities across Titan’s 5 challenges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29384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293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maintenance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828800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RUL-prediction agent prioritises 22k daily sensor alerts; auto-schedules maintenance.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24328"/>
            <a:ext cx="109728" cy="713232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770632"/>
            <a:ext cx="420624" cy="420624"/>
          </a:xfrm>
          <a:prstGeom prst="ellipse">
            <a:avLst/>
          </a:prstGeom>
          <a:solidFill>
            <a:srgbClr val="8B8DFF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7706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2670048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volatility &amp; risk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03520" y="2670048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Tier-2 risk sentinel + ETA prediction — OUR BUILD focuses 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611880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6118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3511296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Human–robot coordination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03520" y="3511296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agent re-plans robot cells around real-time staffing &amp; safety.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306824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453128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45312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63040" y="4352544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&amp; traceability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03520" y="4352544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agent links MES/QMS to robotics telemetry to trace defects in minutes.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148072"/>
            <a:ext cx="11064240" cy="713232"/>
          </a:xfrm>
          <a:prstGeom prst="roundRect">
            <a:avLst>
              <a:gd name="adj" fmla="val 1153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5294376"/>
            <a:ext cx="420624" cy="420624"/>
          </a:xfrm>
          <a:prstGeom prst="ellipse">
            <a:avLst/>
          </a:prstGeom>
          <a:solidFill>
            <a:srgbClr val="1B2433"/>
          </a:solidFill>
          <a:ln w="19050">
            <a:solidFill>
              <a:srgbClr val="2A35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52943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63040" y="519379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Compliance, safety &amp; audit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303520" y="5193792"/>
            <a:ext cx="6126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agent auto-reconstructs incidents across 20+ siloed systems.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Risk Console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password-gated web app: load a supply-chain data source, run a full risk analysis with costs, and chat with the agent — everything runs server-side.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Any data source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CSV/XLSX, connect SAP/Odoo/Dynamics, public USAID data, or a synthetic generator.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47288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21608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2160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75888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risk analysis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75888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Suppliers + logistics (sea/air/road/rail) with quantified cost-at-risk.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45936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0256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74536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ML model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LightGBM model predicts per-supplier late-delivery risk + explains it.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44584" y="2331720"/>
            <a:ext cx="2606040" cy="2834640"/>
          </a:xfrm>
          <a:prstGeom prst="roundRect">
            <a:avLst>
              <a:gd name="adj" fmla="val 3158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18904" y="2606040"/>
            <a:ext cx="548640" cy="548640"/>
          </a:xfrm>
          <a:prstGeom prst="ellipse">
            <a:avLst/>
          </a:prstGeom>
          <a:solidFill>
            <a:srgbClr val="131A26"/>
          </a:solidFill>
          <a:ln w="19050">
            <a:solidFill>
              <a:srgbClr val="8B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18904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473184" y="329184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 chat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73184" y="374904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and run focused re-analyses over the loaded data.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raw data to a board-ready briefing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2184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1472184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Upload, connect an ERP, or generate data → one normalised workspace.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108960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01568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84448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30168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 a simulated logistics-risk layer + run the LightGBM model.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61888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54496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37376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83096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two-agent crew writes the risk briefing, grounded in the numbers.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14816" y="301752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107424" y="2194560"/>
            <a:ext cx="2542032" cy="2651760"/>
          </a:xfrm>
          <a:prstGeom prst="roundRect">
            <a:avLst>
              <a:gd name="adj" fmla="val 323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030968" y="2514600"/>
            <a:ext cx="694944" cy="694944"/>
          </a:xfrm>
          <a:prstGeom prst="ellipse">
            <a:avLst/>
          </a:prstGeom>
          <a:solidFill>
            <a:srgbClr val="8B8DFF"/>
          </a:solidFill>
          <a:ln/>
        </p:spPr>
      </p:sp>
      <p:sp>
        <p:nvSpPr>
          <p:cNvPr id="25" name="Text 23"/>
          <p:cNvSpPr/>
          <p:nvPr/>
        </p:nvSpPr>
        <p:spPr>
          <a:xfrm>
            <a:off x="10030968" y="2514600"/>
            <a:ext cx="69494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0E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290304" y="338328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336024" y="3886200"/>
            <a:ext cx="20848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answers questions &amp; focused re-analyses over the workspace.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CrewAI multi-agent 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Analyst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data + logistics; ranks the quantified risks and worst shipments.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1772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Strategist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4632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findings into a costed briefing + Agentic AI opportunities.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4496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321040" y="2011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2011680"/>
            <a:ext cx="3108960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2240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Chat Agent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49640" y="2670048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questions &amp; focused re-analysis, grounded in the workspace.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526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Primary: Ollama on the VPS — kimi-k2.7-code (fast) + glm-5.1 (tool-calling). No quota wall.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fallback: Google Gemini (2 free keys)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17920" y="4023360"/>
            <a:ext cx="5394960" cy="1554480"/>
          </a:xfrm>
          <a:prstGeom prst="roundRect">
            <a:avLst>
              <a:gd name="adj" fmla="val 5294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0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45262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Prompt-injection &amp; scope guard; untrusted data isolated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Agents' tools are read-only &amp; no secrets — injection can’t take real-world actions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AGENTIC TOOL-USE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Tower — a 4-agent crew that calls tools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131A26"/>
          </a:solidFill>
          <a:ln w="12700">
            <a:solidFill>
              <a:srgbClr val="8B8D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78308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Aggregator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44952" y="1783080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64992" y="178308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131A26"/>
          </a:solidFill>
          <a:ln w="12700">
            <a:solidFill>
              <a:srgbClr val="8B8D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38144" y="178308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Tier-2 Analyst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61304" y="1783080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1344" y="178308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131A26"/>
          </a:solidFill>
          <a:ln w="12700">
            <a:solidFill>
              <a:srgbClr val="8B8D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4496" y="178308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Forecaster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77656" y="1783080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8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696" y="1783080"/>
            <a:ext cx="2487168" cy="868680"/>
          </a:xfrm>
          <a:prstGeom prst="roundRect">
            <a:avLst>
              <a:gd name="adj" fmla="val 10526"/>
            </a:avLst>
          </a:prstGeom>
          <a:solidFill>
            <a:srgbClr val="131A26"/>
          </a:solidFill>
          <a:ln w="12700">
            <a:solidFill>
              <a:srgbClr val="8B8DF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70848" y="178308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· Mitigation Planner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agent autonomously CALLS TOOLS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read fragmented sources — EDI feed · supplier emails · spreadsheet — exactly how CrewAI agents are meant to work.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11064240" cy="1874520"/>
          </a:xfrm>
          <a:prstGeom prst="roundRect">
            <a:avLst>
              <a:gd name="adj" fmla="val 4390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703320"/>
            <a:ext cx="128016" cy="187452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886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Hidden risk the agents surfaced — invisible in any single source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Nippon Steel Alloys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one Tier-2 alloy mill secretly feeding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ACME Bearings and Pacific Hydraulics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single outage there halts two production lines at a combined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$225,000/day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concentration risk no one spotted across the silos.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 in any supply-chain data source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 CSV / XLSX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files auto-profiled (50+ columns, 50k rows).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2544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SAP S/4HANA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26864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OData feed — LIFNR / EBELN / MATNR fields.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6448" y="182880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205740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02996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Odoo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243230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JSON-RPC — res.partner / purchase.order.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 Dynamics 365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OData v4 — VendorAccount / PurchId.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52544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26864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dataset (USAID)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26864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login-free shipment-pricing CSV.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56448" y="3520440"/>
            <a:ext cx="3529584" cy="1417320"/>
          </a:xfrm>
          <a:prstGeom prst="roundRect">
            <a:avLst>
              <a:gd name="adj" fmla="val 5806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56448" y="3749040"/>
            <a:ext cx="91440" cy="96012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37216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generator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430768" y="4123944"/>
            <a:ext cx="3072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Seeded, reproducible — risk patterns baked in.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+ logistics signals are simulated and clearly labelled; production points the same connector at a real system via env config.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ENGINE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Logistics risk + a LightGBM late-delivery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572000" cy="3886200"/>
          </a:xfrm>
          <a:prstGeom prst="roundRect">
            <a:avLst>
              <a:gd name="adj" fmla="val 2118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Simulated in-transit shipments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$240K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697480" y="2532888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delay cost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44728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$4.8M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97480" y="3557016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in transit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71416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14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97480" y="4581144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shipments ≥50% delay risk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20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 · Air · Road · Rail — each scored on weather, port congestion &amp; lane risk.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577840" y="178308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 — what drives late delivery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0" y="228600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5486400" y="557784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 simulated history — holdout AUC ≈ 0.7. The pipeline (features → train → predict → explain) is real.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Agentic AI opportunities — mapped to cost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9384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Tier-2 Risk Sentinel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92040" y="1947672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Continuously maps sub-tier dependencies and flags single-source / high-risk-country exposure before it stalls production.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235440" y="1984248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2020824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De-risks the $21M single-source × Tier-2 exposure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81528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3081528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27832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 Delivery &amp; Expediting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92040" y="3246120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delay signals per shipment; auto-triggers expediting &amp; safety-stock when delay probability spikes.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35440" y="3282696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33192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Cuts the $240K expected delay cost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79976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379976"/>
            <a:ext cx="109728" cy="1152144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526280"/>
            <a:ext cx="39319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Dual-Sourcing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892040" y="4544568"/>
            <a:ext cx="420624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Proposes &amp; qualifies alternate suppliers when concentration or OTD thresholds are breached.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35440" y="4581144"/>
            <a:ext cx="2240280" cy="786384"/>
          </a:xfrm>
          <a:prstGeom prst="roundRect">
            <a:avLst>
              <a:gd name="adj" fmla="val 9302"/>
            </a:avLst>
          </a:prstGeom>
          <a:solidFill>
            <a:srgbClr val="1B2433"/>
          </a:solidFill>
          <a:ln w="12700">
            <a:solidFill>
              <a:srgbClr val="5BE0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0" y="4617720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E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the $14M line-stoppage losses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 it run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6035040" cy="914400"/>
          </a:xfrm>
          <a:prstGeom prst="roundRect">
            <a:avLst>
              <a:gd name="adj" fmla="val 9000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9718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password: agenticai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 Generate a synthetic dataset (or connect SAP)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 Watch KPIs, the data table, logistics risk &amp; the ML card populate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 Run the risk analysis → a costed, board-ready briefing</a:t>
            </a:r>
            <a:endParaRPr lang="en-US" sz="1600" dirty="0"/>
          </a:p>
          <a:p>
            <a:pPr indent="0" marL="0">
              <a:lnSpc>
                <a:spcPts val="2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 Ask the chat: “which shipment has the highest delay cost?”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to run autonomously &amp; securely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3529584" cy="9144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CrewAI backend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dashboard (buildless)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Docker container behind Traefik (auto-TLS)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52544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2544" y="1920240"/>
            <a:ext cx="3529584" cy="9144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26864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Auto-restarts on crash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VPS reboots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Health-checked every 30s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56448" y="1920240"/>
            <a:ext cx="3529584" cy="3017520"/>
          </a:xfrm>
          <a:prstGeom prst="roundRect">
            <a:avLst>
              <a:gd name="adj" fmla="val 2727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1920240"/>
            <a:ext cx="3529584" cy="91440"/>
          </a:xfrm>
          <a:prstGeom prst="rect">
            <a:avLst/>
          </a:prstGeom>
          <a:solidFill>
            <a:srgbClr val="5BE08C"/>
          </a:solidFill>
          <a:ln/>
        </p:spPr>
      </p:sp>
      <p:sp>
        <p:nvSpPr>
          <p:cNvPr id="15" name="Text 13"/>
          <p:cNvSpPr/>
          <p:nvPr/>
        </p:nvSpPr>
        <p:spPr>
          <a:xfrm>
            <a:off x="8430768" y="2240280"/>
            <a:ext cx="29809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30768" y="2834640"/>
            <a:ext cx="298094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+ brute-force lockout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+ input caps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Prompt-injection / scope guard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457200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71323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real, what’s simulated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657600"/>
          </a:xfrm>
          <a:prstGeom prst="roundRect">
            <a:avLst>
              <a:gd name="adj" fmla="val 2250"/>
            </a:avLst>
          </a:prstGeom>
          <a:solidFill>
            <a:srgbClr val="1B2433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3657600"/>
          </a:xfrm>
          <a:prstGeom prst="rect">
            <a:avLst/>
          </a:prstGeom>
          <a:solidFill>
            <a:srgbClr val="FFB78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7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Simulated (clearly labelled)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connections (SAP / Odoo / Dynamics)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/ weather / port signals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model trained on a simulated history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paid APIs used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394960" cy="3657600"/>
          </a:xfrm>
          <a:prstGeom prst="roundRect">
            <a:avLst>
              <a:gd name="adj" fmla="val 2250"/>
            </a:avLst>
          </a:prstGeom>
          <a:solidFill>
            <a:srgbClr val="131A26"/>
          </a:solidFill>
          <a:ln w="12700">
            <a:solidFill>
              <a:srgbClr val="2A354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828800"/>
            <a:ext cx="109728" cy="3657600"/>
          </a:xfrm>
          <a:prstGeom prst="rect">
            <a:avLst/>
          </a:prstGeom>
          <a:solidFill>
            <a:srgbClr val="5BE08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E0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&amp; production-ready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0604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app, pipeline &amp; multi-agent crew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connector code (point env at a real system)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ML pipeline (features → train → predict → explain)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Deployed, autonomous &amp; secured on a live VPS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Risk Console · Agentic AI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8B8D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554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B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789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ECEA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turns fragmented supply-chain data into proactive, quantified decisions.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built, deployed and secured a working prototype that does exactly that — for Titan Manufacturing’s supply chain.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agenticai.srv1487908.hstgr.cloud</a:t>
            </a:r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github.com/cmiebach/agentic_ai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 Chain Risk Console</dc:title>
  <dc:subject>PptxGenJS Presentation</dc:subject>
  <dc:creator>IE Agentic AI Team</dc:creator>
  <cp:lastModifiedBy>IE Agentic AI Team</cp:lastModifiedBy>
  <cp:revision>1</cp:revision>
  <dcterms:created xsi:type="dcterms:W3CDTF">2026-06-23T12:36:38Z</dcterms:created>
  <dcterms:modified xsi:type="dcterms:W3CDTF">2026-06-23T12:36:38Z</dcterms:modified>
</cp:coreProperties>
</file>